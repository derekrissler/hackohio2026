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5868352884a1d" /><Relationship Type="http://schemas.openxmlformats.org/officeDocument/2006/relationships/extended-properties" Target="/docProps/app.xml" Id="Rcb6dc1345d934dd0" /><Relationship Type="http://schemas.openxmlformats.org/officeDocument/2006/relationships/officeDocument" Target="/ppt/presentation.xml" Id="Rc7e46e147a90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076f3b46d4b43"/>
  </p:sldMasterIdLst>
  <p:notesMasterIdLst>
    <p:notesMasterId xmlns:r="http://schemas.openxmlformats.org/officeDocument/2006/relationships" r:id="R03eb262cac194625"/>
  </p:notesMasterIdLst>
  <p:sldIdLst>
    <p:sldId xmlns:r="http://schemas.openxmlformats.org/officeDocument/2006/relationships" id="256" r:id="R9f81c15f168c4dff"/>
    <p:sldId xmlns:r="http://schemas.openxmlformats.org/officeDocument/2006/relationships" id="257" r:id="Rffd90a10036d4350"/>
    <p:sldId xmlns:r="http://schemas.openxmlformats.org/officeDocument/2006/relationships" id="258" r:id="R06faaba930714cce"/>
    <p:sldId xmlns:r="http://schemas.openxmlformats.org/officeDocument/2006/relationships" id="259" r:id="Rc29a42640fdb4b27"/>
    <p:sldId xmlns:r="http://schemas.openxmlformats.org/officeDocument/2006/relationships" id="260" r:id="R5ebf5c624b9548ed"/>
    <p:sldId xmlns:r="http://schemas.openxmlformats.org/officeDocument/2006/relationships" id="261" r:id="R4d46afb7f8f344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0690604d1452e" /><Relationship Type="http://schemas.openxmlformats.org/officeDocument/2006/relationships/slideMaster" Target="/ppt/slideMasters/slideMaster1.xml" Id="R8a6076f3b46d4b43" /><Relationship Type="http://schemas.openxmlformats.org/officeDocument/2006/relationships/notesMaster" Target="/ppt/notesMasters/notesMaster1.xml" Id="R03eb262cac194625" /><Relationship Type="http://schemas.openxmlformats.org/officeDocument/2006/relationships/presProps" Target="/ppt/presProps.xml" Id="R83920fed21234fbd" /><Relationship Type="http://schemas.openxmlformats.org/officeDocument/2006/relationships/tableStyles" Target="/ppt/tableStyles.xml" Id="R9983dc2ba3fd478f" /><Relationship Type="http://schemas.openxmlformats.org/officeDocument/2006/relationships/slide" Target="/ppt/slides/slide1.xml" Id="R9f81c15f168c4dff" /><Relationship Type="http://schemas.openxmlformats.org/officeDocument/2006/relationships/slide" Target="/ppt/slides/slide2.xml" Id="Rffd90a10036d4350" /><Relationship Type="http://schemas.openxmlformats.org/officeDocument/2006/relationships/slide" Target="/ppt/slides/slide3.xml" Id="R06faaba930714cce" /><Relationship Type="http://schemas.openxmlformats.org/officeDocument/2006/relationships/slide" Target="/ppt/slides/slide4.xml" Id="Rc29a42640fdb4b27" /><Relationship Type="http://schemas.openxmlformats.org/officeDocument/2006/relationships/slide" Target="/ppt/slides/slide5.xml" Id="R5ebf5c624b9548ed" /><Relationship Type="http://schemas.openxmlformats.org/officeDocument/2006/relationships/slide" Target="/ppt/slides/slide6.xml" Id="R4d46afb7f8f344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381685d954a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2e43d6495443b" /><Relationship Type="http://schemas.openxmlformats.org/officeDocument/2006/relationships/notesMaster" Target="/ppt/notesMasters/notesMaster1.xml" Id="R531bb16a1d31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510bc12804388" /><Relationship Type="http://schemas.openxmlformats.org/officeDocument/2006/relationships/notesMaster" Target="/ppt/notesMasters/notesMaster1.xml" Id="R518917a3edf048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dd4f30e9054df2" /><Relationship Type="http://schemas.openxmlformats.org/officeDocument/2006/relationships/notesMaster" Target="/ppt/notesMasters/notesMaster1.xml" Id="Rcc03b775941940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e77619333643aa" /><Relationship Type="http://schemas.openxmlformats.org/officeDocument/2006/relationships/notesMaster" Target="/ppt/notesMasters/notesMaster1.xml" Id="R0787782f170d49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6242583104a6f" /><Relationship Type="http://schemas.openxmlformats.org/officeDocument/2006/relationships/notesMaster" Target="/ppt/notesMasters/notesMaster1.xml" Id="Rceaa37e8abca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da9de28884e5b" /><Relationship Type="http://schemas.openxmlformats.org/officeDocument/2006/relationships/notesMaster" Target="/ppt/notesMasters/notesMaster1.xml" Id="Ra4c31de8a282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 (10 seconds). Say: “This is Carmen Study Guide, focused on one mock Canvas class: VIBE 101, a course on building software with AI assistants. I’ll show the class materials and one student review flow.” This is the complete three-minute presentation plus demo. Do not add another demo after the closing.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0:10–0:35 (25 seconds). Show the course home briefly, then point out Syllabus, Modules, and Textbook in the course navigation. Say: “The course is VIBE 101 only. Its six chapters take students from prompting through code review, testing, security, and agents.” Keep the page open briefly. Source: carmen-study-guide/CourseContent/01_syllabus.md; carmen-study-guide/CourseContent/02_textbook.md; carmen-study-guide/mock-canvas/ui.py.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0:35–1:25 (50 seconds). Demo steps: (0:35–0:40) start at http://localhost:8001/courses/1001. (0:40–0:55) click Assignments and open a completed quiz. (0:55–1:05) point to the completed score and click Review Quiz. (1:05–1:15) show one incorrect response and its answer review. (1:15–1:23) click People, select a student, and show the grade drawer. (1:23–1:25) summarize: “Quiz review is completed work, so students can inspect what they missed.” Do not retake or submit a quiz. Data are synthetic: 15 profiles, 3 quizzes x 10 items, 450 item responses. Start the server from carmen-study-guide/mock-canvas with `python -m uvicorn server:app --reload --port 8001`. Source: carmen-study-guide/mock-canvas/INGEST_CONTRACT.md; carmen-study-guide/mock-canvas/ui.py.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1:25–1:50 (25 seconds). Say: “This is a local Carmen prototype, not the other LMS app and not a real Canvas integration. The course is backed by FastAPI and synthetic VIBE 101 fixtures. I kept the tutor out of the timed click-through because its live sign-in needs a mapped course account and a configured model provider.” Sources: carmen-study-guide/README.md; docs/project-state-2026-10-24.md.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1:50–2:20 (30 seconds). Connect the implementation to rubric criteria. Innovation: the course flow connects an incorrect item to a review action, but no outside research has compared existing tools. Creativity: the prototype combines course content, review, and grades, but no learner study validates usefulness. Project breadth and complexity: a course content model, FastAPI mock API, course UI, quiz scoring and role-scoped responses work together. Keep the synthetic/local boundary explicit. Source: OHIO Judging Rubric.xlsx, Judging Rubric rows 4–10; carmen-study-guide/mock-canvas/INGEST_CONTRACT.md.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2:20–3:00 (40 seconds, hard stop at 3:00). Communication: invite judges to follow the live demo path. Impact: state this is a hypothesis, not a measured result. Growth: explain the product iteration from required quiz taking to completed quiz review, plus the grade drawer in People, based on feedback in the project work. Close with: “Our next proof is to observe a few VIBE 101 learners using this flow and measure whether they can find the relevant chapter after a missed item.” End at 3:00; do not add another demo. Rubric source: OHIO Judging Rubric.xlsx, Judging Rubric rows 4–10. Project source: carmen-study-guide/mock-canvas/ui.py; carmen-study-guide/mock-canvas/INGEST_CONTRACT.md.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82f0c580846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339ea6698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f174f72d546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8265e4b0648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83cec7ed249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d946f60554e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8E1D65-C078-41B0-81EA-E96F86430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450E49-9CF9-40E0-AB38-7B8902F21F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246C29-1086-45CA-8087-8A6708F46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9C53F2-3C78-4164-B00F-6032D5B92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8ADCE2-E3B5-42BA-8206-E8E1908DA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99FE8E-86CA-46FF-8134-AAD030ECC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9160E5-8E14-4B41-B957-FE91523FD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3E6606-9662-4D54-858C-88946FEEE5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84332-15D7-48D5-91FC-5F4A57458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690A4-80C2-4009-B9AA-3D4FE691C2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3e0803925a431a" /><Relationship Type="http://schemas.openxmlformats.org/officeDocument/2006/relationships/slideLayout" Target="/ppt/slideLayouts/slideLayout1.xml" Id="R9e4cc96335c74ca5" /><Relationship Type="http://schemas.openxmlformats.org/officeDocument/2006/relationships/slideLayout" Target="/ppt/slideLayouts/slideLayout2.xml" Id="Rc8242de45c184d1c" /><Relationship Type="http://schemas.openxmlformats.org/officeDocument/2006/relationships/slideLayout" Target="/ppt/slideLayouts/slideLayout3.xml" Id="R9a83d1cbc5aa4f82" /><Relationship Type="http://schemas.openxmlformats.org/officeDocument/2006/relationships/slideLayout" Target="/ppt/slideLayouts/slideLayout4.xml" Id="R083ae86db8bd410d" /><Relationship Type="http://schemas.openxmlformats.org/officeDocument/2006/relationships/slideLayout" Target="/ppt/slideLayouts/slideLayout5.xml" Id="Rac8ef8a0350c4341" /><Relationship Type="http://schemas.openxmlformats.org/officeDocument/2006/relationships/slideLayout" Target="/ppt/slideLayouts/slideLayout6.xml" Id="Rac2708d7116343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4cc96335c74ca5"/>
    <p:sldLayoutId xmlns:r="http://schemas.openxmlformats.org/officeDocument/2006/relationships" id="2147483650" r:id="Rc8242de45c184d1c"/>
    <p:sldLayoutId xmlns:r="http://schemas.openxmlformats.org/officeDocument/2006/relationships" id="2147483651" r:id="R9a83d1cbc5aa4f82"/>
    <p:sldLayoutId xmlns:r="http://schemas.openxmlformats.org/officeDocument/2006/relationships" id="2147483652" r:id="R083ae86db8bd410d"/>
    <p:sldLayoutId xmlns:r="http://schemas.openxmlformats.org/officeDocument/2006/relationships" id="2147483653" r:id="Rac8ef8a0350c4341"/>
    <p:sldLayoutId xmlns:r="http://schemas.openxmlformats.org/officeDocument/2006/relationships" id="2147483654" r:id="Rac2708d7116343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114016ee34494" /><Relationship Type="http://schemas.openxmlformats.org/officeDocument/2006/relationships/notesSlide" Target="/ppt/notesSlides/notesSlide1.xml" Id="R09e22554e602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fb2c4cdf94cf5" /><Relationship Type="http://schemas.openxmlformats.org/officeDocument/2006/relationships/notesSlide" Target="/ppt/notesSlides/notesSlide2.xml" Id="R7b17aa3e6bae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8fb1499e74f4d" /><Relationship Type="http://schemas.openxmlformats.org/officeDocument/2006/relationships/notesSlide" Target="/ppt/notesSlides/notesSlide3.xml" Id="R20e9492cc8bc44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4dd027cd24c27" /><Relationship Type="http://schemas.openxmlformats.org/officeDocument/2006/relationships/notesSlide" Target="/ppt/notesSlides/notesSlide4.xml" Id="R365081874c8c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046cc2eb640af" /><Relationship Type="http://schemas.openxmlformats.org/officeDocument/2006/relationships/notesSlide" Target="/ppt/notesSlides/notesSlide5.xml" Id="Rd4ef18146386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7eb01c4a248ba" /><Relationship Type="http://schemas.openxmlformats.org/officeDocument/2006/relationships/notesSlide" Target="/ppt/notesSlides/notesSlide6.xml" Id="R699796536ab04d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A5616C9-4579-4808-8A73-0815285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3C5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C5DA"/>
                </a:solidFill>
                <a:latin typeface="Arial"/>
                <a:ea typeface="Arial"/>
                <a:cs typeface="Arial"/>
              </a:rPr>
              <a:t>JUDGE WALKTHROUGH  /  3 MINUTES TOTAL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27C4DE-4E13-4DBF-B776-BBFBC18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Carmen Study Guide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VIBE 101: Vibe Coding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25E728C-5FEC-4BCF-9AE7-52CF8FA5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7E8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8F4"/>
                </a:solidFill>
                <a:latin typeface="Arial"/>
                <a:ea typeface="Arial"/>
                <a:cs typeface="Arial"/>
              </a:rPr>
              <a:t>A Canvas-style class where students can study the course and review completed quiz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7F28-BCE8-4A78-96ED-F749056E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8C9"/>
          </a:solidFill>
          <a:ln xmlns:a="http://schemas.openxmlformats.org/drawingml/2006/main" w="0">
            <a:solidFill>
              <a:srgbClr val="1688C9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3590583-00B0-4598-B707-DE548EC3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COURSE  /  ONE DEMO  /  THREE MINUTES</a:t>
            </a:r>
          </a:p>
        </p:txBody>
      </p:sp>
    </p:spTree>
    <p:extLst>
      <p:ext uri="{BB962C8B-B14F-4D97-AF65-F5344CB8AC3E}">
        <p14:creationId xmlns:p14="http://schemas.microsoft.com/office/powerpoint/2010/main" val="596286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F003E7D2-408C-4F43-9618-DBC006B5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THE COURSE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6F7D22-3795-43B5-BD98-C4D595D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One VIBE 101 course, one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6E31-9445-4017-820E-648B560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2826E7-9131-4839-A760-E136106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CARMEN STUDY GUIDE / VIBE 101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1C990B39-5A39-4356-9284-061A675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4484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0:10–0:35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6FDA0B6D-E7BA-4B0A-8885-BC6E5CEB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syllabus, modules, and six-chapter textbook follow the Vibe Coding curriculum.</a:t>
            </a:r>
          </a:p>
        </p:txBody>
      </p:sp>
      <p:sp>
        <p:nvSpPr>
          <p:cNvPr id="7" name="chapter-num-0">
            <a:extLst xmlns:a="http://schemas.openxmlformats.org/drawingml/2006/main">
              <a:ext uri="{FF2B5EF4-FFF2-40B4-BE49-F238E27FC236}">
                <a16:creationId xmlns:a16="http://schemas.microsoft.com/office/drawing/2014/main" id="{32A59F13-476F-4C06-8931-C6716271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chapter-0">
            <a:extLst xmlns:a="http://schemas.openxmlformats.org/drawingml/2006/main">
              <a:ext uri="{FF2B5EF4-FFF2-40B4-BE49-F238E27FC236}">
                <a16:creationId xmlns:a16="http://schemas.microsoft.com/office/drawing/2014/main" id="{DCA93AAB-90E9-455E-A81D-4409BC83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What Is Vibe Coding?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EB8E9-B9A1-4420-836B-4EB88174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289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0" name="chapter-num-1">
            <a:extLst xmlns:a="http://schemas.openxmlformats.org/drawingml/2006/main">
              <a:ext uri="{FF2B5EF4-FFF2-40B4-BE49-F238E27FC236}">
                <a16:creationId xmlns:a16="http://schemas.microsoft.com/office/drawing/2014/main" id="{5E3C4D92-2A41-418E-8D00-9EED8922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chapter-1">
            <a:extLst xmlns:a="http://schemas.openxmlformats.org/drawingml/2006/main">
              <a:ext uri="{FF2B5EF4-FFF2-40B4-BE49-F238E27FC236}">
                <a16:creationId xmlns:a16="http://schemas.microsoft.com/office/drawing/2014/main" id="{3580F8CB-F2F0-456A-AACB-659EAE1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Prompting as Specification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B9626-1B1B-4D93-B112-2251D8B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3" name="chapter-num-2">
            <a:extLst xmlns:a="http://schemas.openxmlformats.org/drawingml/2006/main">
              <a:ext uri="{FF2B5EF4-FFF2-40B4-BE49-F238E27FC236}">
                <a16:creationId xmlns:a16="http://schemas.microsoft.com/office/drawing/2014/main" id="{20423DB6-33E2-446B-A99D-36F390E4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chapter-2">
            <a:extLst xmlns:a="http://schemas.openxmlformats.org/drawingml/2006/main">
              <a:ext uri="{FF2B5EF4-FFF2-40B4-BE49-F238E27FC236}">
                <a16:creationId xmlns:a16="http://schemas.microsoft.com/office/drawing/2014/main" id="{5D4DFEF9-BF0F-4347-9BCA-56CE713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Reading Code You Did Not Write</a:t>
            </a:r>
          </a:p>
        </p:txBody>
      </p:sp>
      <p:sp>
        <p:nvSpPr>
          <p:cNvPr id="15" name="chapter-num-3">
            <a:extLst xmlns:a="http://schemas.openxmlformats.org/drawingml/2006/main">
              <a:ext uri="{FF2B5EF4-FFF2-40B4-BE49-F238E27FC236}">
                <a16:creationId xmlns:a16="http://schemas.microsoft.com/office/drawing/2014/main" id="{7316A6C5-FFA1-454D-B08B-2BDE234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chapter-3">
            <a:extLst xmlns:a="http://schemas.openxmlformats.org/drawingml/2006/main">
              <a:ext uri="{FF2B5EF4-FFF2-40B4-BE49-F238E27FC236}">
                <a16:creationId xmlns:a16="http://schemas.microsoft.com/office/drawing/2014/main" id="{4356DBE9-196E-45EE-B4A5-A7685A8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Tests First, Vibes Second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6A87D-88DD-487E-8358-51D357E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289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8" name="chapter-num-4">
            <a:extLst xmlns:a="http://schemas.openxmlformats.org/drawingml/2006/main">
              <a:ext uri="{FF2B5EF4-FFF2-40B4-BE49-F238E27FC236}">
                <a16:creationId xmlns:a16="http://schemas.microsoft.com/office/drawing/2014/main" id="{92E916EA-5917-4A20-8FD5-E6FB6EA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chapter-4">
            <a:extLst xmlns:a="http://schemas.openxmlformats.org/drawingml/2006/main">
              <a:ext uri="{FF2B5EF4-FFF2-40B4-BE49-F238E27FC236}">
                <a16:creationId xmlns:a16="http://schemas.microsoft.com/office/drawing/2014/main" id="{C9C4FFD2-4A85-410B-98C3-8639878C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7187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Security, Privacy, and Ethics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30229-1FAB-484D-916D-4B3F2720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21" name="chapter-num-5">
            <a:extLst xmlns:a="http://schemas.openxmlformats.org/drawingml/2006/main">
              <a:ext uri="{FF2B5EF4-FFF2-40B4-BE49-F238E27FC236}">
                <a16:creationId xmlns:a16="http://schemas.microsoft.com/office/drawing/2014/main" id="{9CC76B32-F5E5-4261-9D3C-B66AD74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chapter-5">
            <a:extLst xmlns:a="http://schemas.openxmlformats.org/drawingml/2006/main">
              <a:ext uri="{FF2B5EF4-FFF2-40B4-BE49-F238E27FC236}">
                <a16:creationId xmlns:a16="http://schemas.microsoft.com/office/drawing/2014/main" id="{AD7D8FD3-DA32-4356-B5D4-CE02787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Agents, Tools, and Automation</a:t>
            </a:r>
          </a:p>
        </p:txBody>
      </p:sp>
      <p:sp>
        <p:nvSpPr>
          <p:cNvPr id="23" name="course-foot">
            <a:extLst xmlns:a="http://schemas.openxmlformats.org/drawingml/2006/main">
              <a:ext uri="{FF2B5EF4-FFF2-40B4-BE49-F238E27FC236}">
                <a16:creationId xmlns:a16="http://schemas.microsoft.com/office/drawing/2014/main" id="{DAB10AEE-51CC-4697-BE64-1A9B13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Course materials are part of the local Carmen VIBE 101 demo.</a:t>
            </a:r>
          </a:p>
        </p:txBody>
      </p:sp>
    </p:spTree>
    <p:extLst>
      <p:ext uri="{BB962C8B-B14F-4D97-AF65-F5344CB8AC3E}">
        <p14:creationId xmlns:p14="http://schemas.microsoft.com/office/powerpoint/2010/main" val="1620742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0BF74B86-D09A-4616-B993-E586099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4BFC4B-1FF9-4A33-82BF-6EE8950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503"/>
          </a:bodyPr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The student workflow is already completed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AE68B-AC5D-4D97-BC43-DE33D84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F7B38C-8875-4774-9231-409D45A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CARMEN STUDY GUIDE / VIBE 101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2A524002-A368-4C20-9485-599CD0E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4484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0:35–1:25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75EA85FD-F4D1-463C-94A0-05681B3F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2A37"/>
                </a:solidFill>
                <a:latin typeface="Arial"/>
                <a:ea typeface="Arial"/>
                <a:cs typeface="Arial"/>
              </a:rPr>
              <a:t>Show one course, one completed quiz, and one student grade view.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24FD6DB6-35CE-4A60-8C58-1A45AD4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7B3B820-A10D-4B6F-AA72-AA2598F4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synthetic student profiles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6AD1FAEE-1FCB-40DE-90C1-1717378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94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476DBDD-D492-4982-994C-3181904F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completed quizzes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26C305C4-A5BD-40EC-A7B8-C67E7E42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A548"/>
                </a:solidFill>
                <a:latin typeface="Arial"/>
                <a:ea typeface="Arial"/>
                <a:cs typeface="Arial"/>
              </a:rPr>
              <a:t>450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B4055B0-970E-4A41-AF91-1E7AB89D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question-level responses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A233F-AB58-473F-AA44-4AEED212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4" name="demo-num-0">
            <a:extLst xmlns:a="http://schemas.openxmlformats.org/drawingml/2006/main">
              <a:ext uri="{FF2B5EF4-FFF2-40B4-BE49-F238E27FC236}">
                <a16:creationId xmlns:a16="http://schemas.microsoft.com/office/drawing/2014/main" id="{7BC19D20-D0DF-401B-B97C-A6E65996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demo-head-0">
            <a:extLst xmlns:a="http://schemas.openxmlformats.org/drawingml/2006/main">
              <a:ext uri="{FF2B5EF4-FFF2-40B4-BE49-F238E27FC236}">
                <a16:creationId xmlns:a16="http://schemas.microsoft.com/office/drawing/2014/main" id="{E2D6E136-7758-4A71-B562-AF22244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Assignments</a:t>
            </a:r>
          </a:p>
        </p:txBody>
      </p:sp>
      <p:sp>
        <p:nvSpPr>
          <p:cNvPr id="16" name="demo-body-0">
            <a:extLst xmlns:a="http://schemas.openxmlformats.org/drawingml/2006/main">
              <a:ext uri="{FF2B5EF4-FFF2-40B4-BE49-F238E27FC236}">
                <a16:creationId xmlns:a16="http://schemas.microsoft.com/office/drawing/2014/main" id="{E2633F2C-7D0D-4071-B220-9E2E6576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Open a completed quiz</a:t>
            </a:r>
          </a:p>
        </p:txBody>
      </p:sp>
      <p:sp>
        <p:nvSpPr>
          <p:cNvPr id="17" name="demo-num-1">
            <a:extLst xmlns:a="http://schemas.openxmlformats.org/drawingml/2006/main">
              <a:ext uri="{FF2B5EF4-FFF2-40B4-BE49-F238E27FC236}">
                <a16:creationId xmlns:a16="http://schemas.microsoft.com/office/drawing/2014/main" id="{85A506F6-7590-48CA-ABB0-A12EA63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demo-head-1">
            <a:extLst xmlns:a="http://schemas.openxmlformats.org/drawingml/2006/main">
              <a:ext uri="{FF2B5EF4-FFF2-40B4-BE49-F238E27FC236}">
                <a16:creationId xmlns:a16="http://schemas.microsoft.com/office/drawing/2014/main" id="{F8B12FC2-5B0E-4185-B286-E7018A1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Review Quiz</a:t>
            </a:r>
          </a:p>
        </p:txBody>
      </p:sp>
      <p:sp>
        <p:nvSpPr>
          <p:cNvPr id="19" name="demo-body-1">
            <a:extLst xmlns:a="http://schemas.openxmlformats.org/drawingml/2006/main">
              <a:ext uri="{FF2B5EF4-FFF2-40B4-BE49-F238E27FC236}">
                <a16:creationId xmlns:a16="http://schemas.microsoft.com/office/drawing/2014/main" id="{641214D2-AB6C-4A54-BF9E-255C4442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577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Show score and a missed item</a:t>
            </a:r>
          </a:p>
        </p:txBody>
      </p:sp>
      <p:sp>
        <p:nvSpPr>
          <p:cNvPr id="20" name="demo-num-2">
            <a:extLst xmlns:a="http://schemas.openxmlformats.org/drawingml/2006/main">
              <a:ext uri="{FF2B5EF4-FFF2-40B4-BE49-F238E27FC236}">
                <a16:creationId xmlns:a16="http://schemas.microsoft.com/office/drawing/2014/main" id="{0E05DE48-F6E5-4B86-B15A-131C8A95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demo-head-2">
            <a:extLst xmlns:a="http://schemas.openxmlformats.org/drawingml/2006/main">
              <a:ext uri="{FF2B5EF4-FFF2-40B4-BE49-F238E27FC236}">
                <a16:creationId xmlns:a16="http://schemas.microsoft.com/office/drawing/2014/main" id="{ADCB342F-8A98-4065-A25C-6F0710D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2" name="demo-body-2">
            <a:extLst xmlns:a="http://schemas.openxmlformats.org/drawingml/2006/main">
              <a:ext uri="{FF2B5EF4-FFF2-40B4-BE49-F238E27FC236}">
                <a16:creationId xmlns:a16="http://schemas.microsoft.com/office/drawing/2014/main" id="{211C518A-3F28-4A16-A745-4C2FC722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5772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Open a student grade drawer</a:t>
            </a:r>
          </a:p>
        </p:txBody>
      </p:sp>
      <p:sp>
        <p:nvSpPr>
          <p:cNvPr id="23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EA266471-0F36-435F-9AE6-7FF490E7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C35A6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35A61"/>
                </a:solidFill>
                <a:latin typeface="Arial"/>
                <a:ea typeface="Arial"/>
                <a:cs typeface="Arial"/>
              </a:rPr>
              <a:t>All roster, quiz, and grade records in this demo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195819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08C24906-3B7C-4D86-B82B-E59D940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350601-8EF6-477A-A60D-7468D3E6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Built as a focused Carmen classroom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C43F-3135-475E-B06C-BD62A7D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9856B3D-BB5C-4A4A-BE59-FCDD0CFA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CARMEN STUDY GUIDE / VIBE 101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8B345BAA-6C9C-49AD-81DF-83734BE9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4484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1:25–1:50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E7B9FFA6-9472-46F0-93E8-5D37361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mock course stays inside carmen-study-guide and serves VIBE 101.</a:t>
            </a:r>
          </a:p>
        </p:txBody>
      </p:sp>
      <p:sp>
        <p:nvSpPr>
          <p:cNvPr id="7" name="impl-0-head">
            <a:extLst xmlns:a="http://schemas.openxmlformats.org/drawingml/2006/main">
              <a:ext uri="{FF2B5EF4-FFF2-40B4-BE49-F238E27FC236}">
                <a16:creationId xmlns:a16="http://schemas.microsoft.com/office/drawing/2014/main" id="{34BEBB2F-E9FC-478A-A4AD-5EA4186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Course content</a:t>
            </a:r>
          </a:p>
        </p:txBody>
      </p:sp>
      <p:sp>
        <p:nvSpPr>
          <p:cNvPr id="8" name="impl-0-body">
            <a:extLst xmlns:a="http://schemas.openxmlformats.org/drawingml/2006/main">
              <a:ext uri="{FF2B5EF4-FFF2-40B4-BE49-F238E27FC236}">
                <a16:creationId xmlns:a16="http://schemas.microsoft.com/office/drawing/2014/main" id="{BC7EFBED-EE64-4F0B-8DB0-CECE0EE1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3143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Syllabus, modules, assignments, and a six-chapter textbook live in CourseContent.</a:t>
            </a:r>
          </a:p>
        </p:txBody>
      </p:sp>
      <p:sp>
        <p:nvSpPr>
          <p:cNvPr id="9" name="impl-1-head">
            <a:extLst xmlns:a="http://schemas.openxmlformats.org/drawingml/2006/main">
              <a:ext uri="{FF2B5EF4-FFF2-40B4-BE49-F238E27FC236}">
                <a16:creationId xmlns:a16="http://schemas.microsoft.com/office/drawing/2014/main" id="{D04E6654-5925-4EA2-BC73-AA1B53FF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9478"/>
                </a:solidFill>
                <a:latin typeface="Arial"/>
                <a:ea typeface="Arial"/>
                <a:cs typeface="Arial"/>
              </a:rPr>
              <a:t>Canvas-style pages</a:t>
            </a:r>
          </a:p>
        </p:txBody>
      </p:sp>
      <p:sp>
        <p:nvSpPr>
          <p:cNvPr id="10" name="impl-1-body">
            <a:extLst xmlns:a="http://schemas.openxmlformats.org/drawingml/2006/main">
              <a:ext uri="{FF2B5EF4-FFF2-40B4-BE49-F238E27FC236}">
                <a16:creationId xmlns:a16="http://schemas.microsoft.com/office/drawing/2014/main" id="{6191BFDF-7EDF-4B47-BDAF-600C6F2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43275"/>
            <a:ext cx="3143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A Python FastAPI app serves the VIBE 101 course, quiz review, People roster, and grade drawer.</a:t>
            </a:r>
          </a:p>
        </p:txBody>
      </p:sp>
      <p:sp>
        <p:nvSpPr>
          <p:cNvPr id="11" name="impl-2-head">
            <a:extLst xmlns:a="http://schemas.openxmlformats.org/drawingml/2006/main">
              <a:ext uri="{FF2B5EF4-FFF2-40B4-BE49-F238E27FC236}">
                <a16:creationId xmlns:a16="http://schemas.microsoft.com/office/drawing/2014/main" id="{41132372-F5DF-46AB-BB17-2E63884D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05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A548"/>
                </a:solidFill>
                <a:latin typeface="Arial"/>
                <a:ea typeface="Arial"/>
                <a:cs typeface="Arial"/>
              </a:rPr>
              <a:t>Repeatable demo data</a:t>
            </a:r>
          </a:p>
        </p:txBody>
      </p:sp>
      <p:sp>
        <p:nvSpPr>
          <p:cNvPr id="12" name="impl-2-body">
            <a:extLst xmlns:a="http://schemas.openxmlformats.org/drawingml/2006/main">
              <a:ext uri="{FF2B5EF4-FFF2-40B4-BE49-F238E27FC236}">
                <a16:creationId xmlns:a16="http://schemas.microsoft.com/office/drawing/2014/main" id="{8F5DB57A-90D1-4629-961E-72D4AE61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143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A local fixture supplies synthetic students, completed quizzes, scores, and item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00502-27C7-40C3-9837-4E21E98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4" name="scope">
            <a:extLst xmlns:a="http://schemas.openxmlformats.org/drawingml/2006/main">
              <a:ext uri="{FF2B5EF4-FFF2-40B4-BE49-F238E27FC236}">
                <a16:creationId xmlns:a16="http://schemas.microsoft.com/office/drawing/2014/main" id="{63EC8EB2-8FEF-4120-A698-E9D06AE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1036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Scope: local mock Canvas and fictional records. The tutor route needs separate course-account and model-provider setup, so it is outside this timed demo.</a:t>
            </a:r>
          </a:p>
        </p:txBody>
      </p:sp>
    </p:spTree>
    <p:extLst>
      <p:ext uri="{BB962C8B-B14F-4D97-AF65-F5344CB8AC3E}">
        <p14:creationId xmlns:p14="http://schemas.microsoft.com/office/powerpoint/2010/main" val="2019994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222B1D88-E045-48EA-B461-C6A1A78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JUDGING RUBRIC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EDD005-0655-4013-8D84-FDC0BD1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Rubric evidence: Innovation, Creativity,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897C8-7CD8-46C9-9E3E-95F575A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12B234-D714-44D5-BCED-84B1B3AF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CARMEN STUDY GUIDE / VIBE 101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2DAB0CB1-0509-4D44-8470-98DF565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4484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1:50–2:20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14F048D8-DCDA-42DE-9F90-B1F016F6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VIBE 101 prototype connects course material to a specific review action.</a:t>
            </a:r>
          </a:p>
        </p:txBody>
      </p:sp>
      <p:sp>
        <p:nvSpPr>
          <p:cNvPr id="7" name="head-crit">
            <a:extLst xmlns:a="http://schemas.openxmlformats.org/drawingml/2006/main">
              <a:ext uri="{FF2B5EF4-FFF2-40B4-BE49-F238E27FC236}">
                <a16:creationId xmlns:a16="http://schemas.microsoft.com/office/drawing/2014/main" id="{E8C4E595-B95E-4E3B-80E0-A3BADD5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CRITERION</a:t>
            </a:r>
          </a:p>
        </p:txBody>
      </p:sp>
      <p:sp>
        <p:nvSpPr>
          <p:cNvPr id="8" name="head-evidence">
            <a:extLst xmlns:a="http://schemas.openxmlformats.org/drawingml/2006/main">
              <a:ext uri="{FF2B5EF4-FFF2-40B4-BE49-F238E27FC236}">
                <a16:creationId xmlns:a16="http://schemas.microsoft.com/office/drawing/2014/main" id="{C140CC2F-8EE3-4973-8E70-A3AEC78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9" name="head-gap">
            <a:extLst xmlns:a="http://schemas.openxmlformats.org/drawingml/2006/main">
              <a:ext uri="{FF2B5EF4-FFF2-40B4-BE49-F238E27FC236}">
                <a16:creationId xmlns:a16="http://schemas.microsoft.com/office/drawing/2014/main" id="{3119A5E7-72A8-446C-BAAB-914060EB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WHAT IS NOT YET PROVEN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FCB00-1F42-4EC2-982D-6A43028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1" name="criterion-1">
            <a:extLst xmlns:a="http://schemas.openxmlformats.org/drawingml/2006/main">
              <a:ext uri="{FF2B5EF4-FFF2-40B4-BE49-F238E27FC236}">
                <a16:creationId xmlns:a16="http://schemas.microsoft.com/office/drawing/2014/main" id="{33529FFB-64C9-4442-89C2-8DDA758A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2" name="evidence-1">
            <a:extLst xmlns:a="http://schemas.openxmlformats.org/drawingml/2006/main">
              <a:ext uri="{FF2B5EF4-FFF2-40B4-BE49-F238E27FC236}">
                <a16:creationId xmlns:a16="http://schemas.microsoft.com/office/drawing/2014/main" id="{AE3F9CFE-32C4-4711-B6E5-2FD64E6D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A missed quiz item can be reviewed alongside the VIBE 101 course content.</a:t>
            </a:r>
          </a:p>
        </p:txBody>
      </p:sp>
      <p:sp>
        <p:nvSpPr>
          <p:cNvPr id="13" name="gap-1">
            <a:extLst xmlns:a="http://schemas.openxmlformats.org/drawingml/2006/main">
              <a:ext uri="{FF2B5EF4-FFF2-40B4-BE49-F238E27FC236}">
                <a16:creationId xmlns:a16="http://schemas.microsoft.com/office/drawing/2014/main" id="{DB052BB6-4E19-4979-AEC7-5041594C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No documented comparison or research on other learning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7560E-ECE0-4EDA-91FB-5485D38D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5" name="criterion-2">
            <a:extLst xmlns:a="http://schemas.openxmlformats.org/drawingml/2006/main">
              <a:ext uri="{FF2B5EF4-FFF2-40B4-BE49-F238E27FC236}">
                <a16:creationId xmlns:a16="http://schemas.microsoft.com/office/drawing/2014/main" id="{1AC9E03B-C704-4F61-8825-BC40467E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9478"/>
                </a:solidFill>
                <a:latin typeface="Arial"/>
                <a:ea typeface="Arial"/>
                <a:cs typeface="Arial"/>
              </a:rPr>
              <a:t>Creativity</a:t>
            </a:r>
          </a:p>
        </p:txBody>
      </p:sp>
      <p:sp>
        <p:nvSpPr>
          <p:cNvPr id="16" name="evidence-2">
            <a:extLst xmlns:a="http://schemas.openxmlformats.org/drawingml/2006/main">
              <a:ext uri="{FF2B5EF4-FFF2-40B4-BE49-F238E27FC236}">
                <a16:creationId xmlns:a16="http://schemas.microsoft.com/office/drawing/2014/main" id="{4AECC96F-9775-4BEF-95A1-B991806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19525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Canvas-style flow brings the VIBE textbook, quiz review, and student grades into one mock course.</a:t>
            </a:r>
          </a:p>
        </p:txBody>
      </p:sp>
      <p:sp>
        <p:nvSpPr>
          <p:cNvPr id="17" name="gap-2">
            <a:extLst xmlns:a="http://schemas.openxmlformats.org/drawingml/2006/main">
              <a:ext uri="{FF2B5EF4-FFF2-40B4-BE49-F238E27FC236}">
                <a16:creationId xmlns:a16="http://schemas.microsoft.com/office/drawing/2014/main" id="{23872188-56C0-46F2-8EC2-2553A4C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No learner study has tested whether this approach is novel or useful.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D21F6-376E-4D62-8FAE-D4A781DB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9" name="criterion-3">
            <a:extLst xmlns:a="http://schemas.openxmlformats.org/drawingml/2006/main">
              <a:ext uri="{FF2B5EF4-FFF2-40B4-BE49-F238E27FC236}">
                <a16:creationId xmlns:a16="http://schemas.microsoft.com/office/drawing/2014/main" id="{0777968B-F4BB-4EAA-A3E5-9ED22C8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A548"/>
                </a:solidFill>
                <a:latin typeface="Arial"/>
                <a:ea typeface="Arial"/>
                <a:cs typeface="Arial"/>
              </a:rPr>
              <a:t>Project breadth and complexity</a:t>
            </a:r>
          </a:p>
        </p:txBody>
      </p:sp>
      <p:sp>
        <p:nvSpPr>
          <p:cNvPr id="20" name="evidence-3">
            <a:extLst xmlns:a="http://schemas.openxmlformats.org/drawingml/2006/main">
              <a:ext uri="{FF2B5EF4-FFF2-40B4-BE49-F238E27FC236}">
                <a16:creationId xmlns:a16="http://schemas.microsoft.com/office/drawing/2014/main" id="{889DB4A7-C876-4125-8FD0-6F78ECB6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prototype combines course content, FastAPI routes, role-scoped mock access, quiz scoring, and the People grade drawer.</a:t>
            </a:r>
          </a:p>
        </p:txBody>
      </p:sp>
      <p:sp>
        <p:nvSpPr>
          <p:cNvPr id="21" name="gap-3">
            <a:extLst xmlns:a="http://schemas.openxmlformats.org/drawingml/2006/main">
              <a:ext uri="{FF2B5EF4-FFF2-40B4-BE49-F238E27FC236}">
                <a16:creationId xmlns:a16="http://schemas.microsoft.com/office/drawing/2014/main" id="{425B59DF-2245-44DF-BDEF-197A32F1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It uses local mock data. Real Canvas accounts and production deployment are not part of this demo.</a:t>
            </a:r>
          </a:p>
        </p:txBody>
      </p:sp>
    </p:spTree>
    <p:extLst>
      <p:ext uri="{BB962C8B-B14F-4D97-AF65-F5344CB8AC3E}">
        <p14:creationId xmlns:p14="http://schemas.microsoft.com/office/powerpoint/2010/main" val="321974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B72D11CD-7BA2-4B10-9E27-903769D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JUDGING RUBRIC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31E9D9-4019-4216-AB39-79D8F34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Rubric evidence: Communication, Impact,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2DC28-2541-4FB0-8D85-2D498C51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810EFD-6836-4038-BD99-C9E2A9F0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CARMEN STUDY GUIDE / VIBE 101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7023AE47-9B2C-4571-A9E1-E1D0FD5B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448425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2:20–3:00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96530A0B-92C1-482B-9F8D-D6875EC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A37"/>
                </a:solidFill>
                <a:latin typeface="Arial"/>
                <a:ea typeface="Arial"/>
                <a:cs typeface="Arial"/>
              </a:rPr>
              <a:t>The prototype is demonstrable; user impact still needs a real test.</a:t>
            </a:r>
          </a:p>
        </p:txBody>
      </p:sp>
      <p:sp>
        <p:nvSpPr>
          <p:cNvPr id="7" name="head-crit">
            <a:extLst xmlns:a="http://schemas.openxmlformats.org/drawingml/2006/main">
              <a:ext uri="{FF2B5EF4-FFF2-40B4-BE49-F238E27FC236}">
                <a16:creationId xmlns:a16="http://schemas.microsoft.com/office/drawing/2014/main" id="{1A5CD385-C573-41DE-957F-A944EA9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CRITERION</a:t>
            </a:r>
          </a:p>
        </p:txBody>
      </p:sp>
      <p:sp>
        <p:nvSpPr>
          <p:cNvPr id="8" name="head-evidence">
            <a:extLst xmlns:a="http://schemas.openxmlformats.org/drawingml/2006/main">
              <a:ext uri="{FF2B5EF4-FFF2-40B4-BE49-F238E27FC236}">
                <a16:creationId xmlns:a16="http://schemas.microsoft.com/office/drawing/2014/main" id="{8F6F0499-0FED-4120-A71A-95CFF0B1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9" name="head-gap">
            <a:extLst xmlns:a="http://schemas.openxmlformats.org/drawingml/2006/main">
              <a:ext uri="{FF2B5EF4-FFF2-40B4-BE49-F238E27FC236}">
                <a16:creationId xmlns:a16="http://schemas.microsoft.com/office/drawing/2014/main" id="{EA50D76F-8D0B-47FC-9511-0AB2E8C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WHAT IS NOT YET PROVEN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E276A-1C16-45A7-A910-F8A18E3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1" name="criterion-1">
            <a:extLst xmlns:a="http://schemas.openxmlformats.org/drawingml/2006/main">
              <a:ext uri="{FF2B5EF4-FFF2-40B4-BE49-F238E27FC236}">
                <a16:creationId xmlns:a16="http://schemas.microsoft.com/office/drawing/2014/main" id="{E3BEDC08-97FA-4539-AE4F-9A13F5C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8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8C9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12" name="evidence-1">
            <a:extLst xmlns:a="http://schemas.openxmlformats.org/drawingml/2006/main">
              <a:ext uri="{FF2B5EF4-FFF2-40B4-BE49-F238E27FC236}">
                <a16:creationId xmlns:a16="http://schemas.microsoft.com/office/drawing/2014/main" id="{EF07F4C8-C66B-4E59-A449-8A52FEE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70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A clickable VIBE 101 class and a timed quiz-to-grade walkthrough.</a:t>
            </a:r>
          </a:p>
        </p:txBody>
      </p:sp>
      <p:sp>
        <p:nvSpPr>
          <p:cNvPr id="13" name="gap-1">
            <a:extLst xmlns:a="http://schemas.openxmlformats.org/drawingml/2006/main">
              <a:ext uri="{FF2B5EF4-FFF2-40B4-BE49-F238E27FC236}">
                <a16:creationId xmlns:a16="http://schemas.microsoft.com/office/drawing/2014/main" id="{3025906D-80E6-402C-AC10-364D9D5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No learner-usability study is documented.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BCBE9-2106-4ADD-BDED-EDE6394E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5" name="criterion-2">
            <a:extLst xmlns:a="http://schemas.openxmlformats.org/drawingml/2006/main">
              <a:ext uri="{FF2B5EF4-FFF2-40B4-BE49-F238E27FC236}">
                <a16:creationId xmlns:a16="http://schemas.microsoft.com/office/drawing/2014/main" id="{16EA869A-5F2E-417C-A90E-F334F65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D94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947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6" name="evidence-2">
            <a:extLst xmlns:a="http://schemas.openxmlformats.org/drawingml/2006/main">
              <a:ext uri="{FF2B5EF4-FFF2-40B4-BE49-F238E27FC236}">
                <a16:creationId xmlns:a16="http://schemas.microsoft.com/office/drawing/2014/main" id="{0BB48F5D-A36F-4E82-9135-A218D8C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19525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Value hypothesis: help students go from a missed answer to relevant course material.</a:t>
            </a:r>
          </a:p>
        </p:txBody>
      </p:sp>
      <p:sp>
        <p:nvSpPr>
          <p:cNvPr id="17" name="gap-2">
            <a:extLst xmlns:a="http://schemas.openxmlformats.org/drawingml/2006/main">
              <a:ext uri="{FF2B5EF4-FFF2-40B4-BE49-F238E27FC236}">
                <a16:creationId xmlns:a16="http://schemas.microsoft.com/office/drawing/2014/main" id="{F0FD9D7E-13DA-4041-8E61-694B22F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No learning gains, time saved, or adoption have been measured.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6452A-4FDE-4F86-9FAC-1905679F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19" name="criterion-3">
            <a:extLst xmlns:a="http://schemas.openxmlformats.org/drawingml/2006/main">
              <a:ext uri="{FF2B5EF4-FFF2-40B4-BE49-F238E27FC236}">
                <a16:creationId xmlns:a16="http://schemas.microsoft.com/office/drawing/2014/main" id="{3A4AD7D0-42F1-4CA5-8B3A-BAE4A56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0A5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A548"/>
                </a:solidFill>
                <a:latin typeface="Arial"/>
                <a:ea typeface="Arial"/>
                <a:cs typeface="Arial"/>
              </a:rPr>
              <a:t>Navigating challenges</a:t>
            </a:r>
          </a:p>
        </p:txBody>
      </p:sp>
      <p:sp>
        <p:nvSpPr>
          <p:cNvPr id="20" name="evidence-3">
            <a:extLst xmlns:a="http://schemas.openxmlformats.org/drawingml/2006/main">
              <a:ext uri="{FF2B5EF4-FFF2-40B4-BE49-F238E27FC236}">
                <a16:creationId xmlns:a16="http://schemas.microsoft.com/office/drawing/2014/main" id="{B3EBE7F3-6BB4-456A-AE41-FFBE37BA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E2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37"/>
                </a:solidFill>
                <a:latin typeface="Arial"/>
                <a:ea typeface="Arial"/>
                <a:cs typeface="Arial"/>
              </a:rPr>
              <a:t>Product feedback changed quizzes to completed reviews and added grades from People.</a:t>
            </a:r>
          </a:p>
        </p:txBody>
      </p:sp>
      <p:sp>
        <p:nvSpPr>
          <p:cNvPr id="21" name="gap-3">
            <a:extLst xmlns:a="http://schemas.openxmlformats.org/drawingml/2006/main">
              <a:ext uri="{FF2B5EF4-FFF2-40B4-BE49-F238E27FC236}">
                <a16:creationId xmlns:a16="http://schemas.microsoft.com/office/drawing/2014/main" id="{620B221F-DF71-4723-8076-EE7DBEF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73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No controlled failure-and-pivot results are documented.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B63EB-DCA8-4005-83E2-4ABE1C6F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9"/>
          </a:solidFill>
          <a:ln xmlns:a="http://schemas.openxmlformats.org/drawingml/2006/main" w="0">
            <a:solidFill>
              <a:srgbClr val="D7E1E9"/>
            </a:solidFill>
            <a:prstDash val="solid"/>
          </a:ln>
        </p:spPr>
      </p:sp>
      <p:sp>
        <p:nvSpPr>
          <p:cNvPr id="23" name="close">
            <a:extLst xmlns:a="http://schemas.openxmlformats.org/drawingml/2006/main">
              <a:ext uri="{FF2B5EF4-FFF2-40B4-BE49-F238E27FC236}">
                <a16:creationId xmlns:a16="http://schemas.microsoft.com/office/drawing/2014/main" id="{07D9C276-5C5A-440B-9139-04D9885D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D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60128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2026-10-25T03:47:08.4000000Z</dcterms:created>
  <dcterms:modified xsi:type="dcterms:W3CDTF">2026-10-25T03:47:08.4000000Z</dcterms:modified>
</coreProperties>
</file>